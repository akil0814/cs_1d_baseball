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8" r:id="rId1"/>
  </p:sldMasterIdLst>
  <p:notesMasterIdLst>
    <p:notesMasterId r:id="rId48"/>
  </p:notesMasterIdLst>
  <p:handoutMasterIdLst>
    <p:handoutMasterId r:id="rId49"/>
  </p:handoutMasterIdLst>
  <p:sldIdLst>
    <p:sldId id="257" r:id="rId2"/>
    <p:sldId id="258" r:id="rId3"/>
    <p:sldId id="317" r:id="rId4"/>
    <p:sldId id="306" r:id="rId5"/>
    <p:sldId id="308" r:id="rId6"/>
    <p:sldId id="260" r:id="rId7"/>
    <p:sldId id="307" r:id="rId8"/>
    <p:sldId id="341" r:id="rId9"/>
    <p:sldId id="309" r:id="rId10"/>
    <p:sldId id="310" r:id="rId11"/>
    <p:sldId id="342" r:id="rId12"/>
    <p:sldId id="311" r:id="rId13"/>
    <p:sldId id="312" r:id="rId14"/>
    <p:sldId id="313" r:id="rId15"/>
    <p:sldId id="314" r:id="rId16"/>
    <p:sldId id="356" r:id="rId17"/>
    <p:sldId id="316" r:id="rId18"/>
    <p:sldId id="337" r:id="rId19"/>
    <p:sldId id="339" r:id="rId20"/>
    <p:sldId id="338" r:id="rId21"/>
    <p:sldId id="318" r:id="rId22"/>
    <p:sldId id="319" r:id="rId23"/>
    <p:sldId id="327" r:id="rId24"/>
    <p:sldId id="321" r:id="rId25"/>
    <p:sldId id="322" r:id="rId26"/>
    <p:sldId id="323" r:id="rId27"/>
    <p:sldId id="324" r:id="rId28"/>
    <p:sldId id="355" r:id="rId29"/>
    <p:sldId id="343" r:id="rId30"/>
    <p:sldId id="325" r:id="rId31"/>
    <p:sldId id="344" r:id="rId32"/>
    <p:sldId id="329" r:id="rId33"/>
    <p:sldId id="335" r:id="rId34"/>
    <p:sldId id="328" r:id="rId35"/>
    <p:sldId id="326" r:id="rId36"/>
    <p:sldId id="330" r:id="rId37"/>
    <p:sldId id="331" r:id="rId38"/>
    <p:sldId id="332" r:id="rId39"/>
    <p:sldId id="350" r:id="rId40"/>
    <p:sldId id="334" r:id="rId41"/>
    <p:sldId id="346" r:id="rId42"/>
    <p:sldId id="347" r:id="rId43"/>
    <p:sldId id="348" r:id="rId44"/>
    <p:sldId id="352" r:id="rId45"/>
    <p:sldId id="353" r:id="rId46"/>
    <p:sldId id="354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FFCC"/>
    <a:srgbClr val="990033"/>
    <a:srgbClr val="003399"/>
    <a:srgbClr val="B7DBFF"/>
    <a:srgbClr val="E9F7FF"/>
    <a:srgbClr val="99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4614" autoAdjust="0"/>
  </p:normalViewPr>
  <p:slideViewPr>
    <p:cSldViewPr snapToGrid="0">
      <p:cViewPr varScale="1">
        <p:scale>
          <a:sx n="72" d="100"/>
          <a:sy n="72" d="100"/>
        </p:scale>
        <p:origin x="170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2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y" userId="3e53fc9541c70f0f" providerId="LiveId" clId="{3C99BF85-169D-4656-B32C-BCA6CDDB2F51}"/>
    <pc:docChg chg="custSel modSld">
      <pc:chgData name="Jerry" userId="3e53fc9541c70f0f" providerId="LiveId" clId="{3C99BF85-169D-4656-B32C-BCA6CDDB2F51}" dt="2022-12-19T16:49:03.539" v="358" actId="20577"/>
      <pc:docMkLst>
        <pc:docMk/>
      </pc:docMkLst>
      <pc:sldChg chg="modSp mod">
        <pc:chgData name="Jerry" userId="3e53fc9541c70f0f" providerId="LiveId" clId="{3C99BF85-169D-4656-B32C-BCA6CDDB2F51}" dt="2022-12-19T16:49:03.539" v="358" actId="20577"/>
        <pc:sldMkLst>
          <pc:docMk/>
          <pc:sldMk cId="1587510203" sldId="352"/>
        </pc:sldMkLst>
        <pc:spChg chg="mod">
          <ac:chgData name="Jerry" userId="3e53fc9541c70f0f" providerId="LiveId" clId="{3C99BF85-169D-4656-B32C-BCA6CDDB2F51}" dt="2022-12-19T16:49:03.539" v="358" actId="20577"/>
          <ac:spMkLst>
            <pc:docMk/>
            <pc:sldMk cId="1587510203" sldId="352"/>
            <ac:spMk id="4" creationId="{00000000-0000-0000-0000-000000000000}"/>
          </ac:spMkLst>
        </pc:spChg>
      </pc:sldChg>
      <pc:sldChg chg="modSp mod">
        <pc:chgData name="Jerry" userId="3e53fc9541c70f0f" providerId="LiveId" clId="{3C99BF85-169D-4656-B32C-BCA6CDDB2F51}" dt="2022-12-19T16:48:04.644" v="293" actId="20577"/>
        <pc:sldMkLst>
          <pc:docMk/>
          <pc:sldMk cId="240321860" sldId="353"/>
        </pc:sldMkLst>
        <pc:spChg chg="mod">
          <ac:chgData name="Jerry" userId="3e53fc9541c70f0f" providerId="LiveId" clId="{3C99BF85-169D-4656-B32C-BCA6CDDB2F51}" dt="2022-12-19T16:48:04.644" v="293" actId="20577"/>
          <ac:spMkLst>
            <pc:docMk/>
            <pc:sldMk cId="240321860" sldId="353"/>
            <ac:spMk id="4" creationId="{00000000-0000-0000-0000-000000000000}"/>
          </ac:spMkLst>
        </pc:spChg>
        <pc:picChg chg="mod">
          <ac:chgData name="Jerry" userId="3e53fc9541c70f0f" providerId="LiveId" clId="{3C99BF85-169D-4656-B32C-BCA6CDDB2F51}" dt="2022-12-19T16:45:04.091" v="106" actId="1076"/>
          <ac:picMkLst>
            <pc:docMk/>
            <pc:sldMk cId="240321860" sldId="353"/>
            <ac:picMk id="5" creationId="{00000000-0000-0000-0000-000000000000}"/>
          </ac:picMkLst>
        </pc:picChg>
      </pc:sldChg>
      <pc:sldChg chg="modSp mod">
        <pc:chgData name="Jerry" userId="3e53fc9541c70f0f" providerId="LiveId" clId="{3C99BF85-169D-4656-B32C-BCA6CDDB2F51}" dt="2022-12-19T16:47:32.223" v="286" actId="313"/>
        <pc:sldMkLst>
          <pc:docMk/>
          <pc:sldMk cId="1854740470" sldId="354"/>
        </pc:sldMkLst>
        <pc:spChg chg="mod">
          <ac:chgData name="Jerry" userId="3e53fc9541c70f0f" providerId="LiveId" clId="{3C99BF85-169D-4656-B32C-BCA6CDDB2F51}" dt="2022-12-19T16:47:32.223" v="286" actId="313"/>
          <ac:spMkLst>
            <pc:docMk/>
            <pc:sldMk cId="1854740470" sldId="354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162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3400"/>
            <a:ext cx="5030787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662" tIns="46038" rIns="93662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972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42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73075" algn="l" defTabSz="9842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49325" algn="l" defTabSz="9842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22400" algn="l" defTabSz="9842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97063" algn="l" defTabSz="9842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4800"/>
          </a:xfrm>
          <a:noFill/>
        </p:spPr>
        <p:txBody>
          <a:bodyPr/>
          <a:lstStyle/>
          <a:p>
            <a:pPr defTabSz="103663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55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4800"/>
          </a:xfrm>
          <a:noFill/>
        </p:spPr>
        <p:txBody>
          <a:bodyPr/>
          <a:lstStyle/>
          <a:p>
            <a:pPr defTabSz="103663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90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4800"/>
          </a:xfrm>
          <a:noFill/>
        </p:spPr>
        <p:txBody>
          <a:bodyPr/>
          <a:lstStyle/>
          <a:p>
            <a:pPr defTabSz="103663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42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4800"/>
          </a:xfrm>
          <a:noFill/>
        </p:spPr>
        <p:txBody>
          <a:bodyPr/>
          <a:lstStyle/>
          <a:p>
            <a:pPr defTabSz="103663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08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4800"/>
          </a:xfrm>
          <a:noFill/>
        </p:spPr>
        <p:txBody>
          <a:bodyPr/>
          <a:lstStyle/>
          <a:p>
            <a:pPr defTabSz="103663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09A6A06-EFFA-455C-9522-08FD9FE14CD3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13D957E-3605-486B-AEB7-65CC4253A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zoom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2522883"/>
            <a:ext cx="6959600" cy="800100"/>
          </a:xfrm>
        </p:spPr>
        <p:txBody>
          <a:bodyPr>
            <a:normAutofit fontScale="90000"/>
          </a:bodyPr>
          <a:lstStyle/>
          <a:p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Unit testing</a:t>
            </a:r>
          </a:p>
          <a:p>
            <a:pPr marL="342900" indent="-342900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 Box testing </a:t>
            </a:r>
          </a:p>
          <a:p>
            <a:pPr marL="342900" indent="-342900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Black Box testing</a:t>
            </a:r>
          </a:p>
          <a:p>
            <a:pPr marL="342900" indent="-34290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charset="0"/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70" y="3014704"/>
            <a:ext cx="3341370" cy="2215474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86307" y="1428482"/>
            <a:ext cx="6959600" cy="800100"/>
          </a:xfrm>
        </p:spPr>
        <p:txBody>
          <a:bodyPr>
            <a:normAutofit fontScale="90000"/>
          </a:bodyPr>
          <a:lstStyle/>
          <a:p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Unit Testing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299" y="3078051"/>
            <a:ext cx="5395403" cy="292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92897"/>
      </p:ext>
    </p:extLst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2828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Unit testing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a software testing methodology used to determine if a “unit” is ready for use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Each test verifies the behavior of </a:t>
            </a:r>
            <a:r>
              <a:rPr 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unit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Ignoring all collaborations with other units </a:t>
            </a:r>
          </a:p>
          <a:p>
            <a:pPr lvl="2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75" y="4504836"/>
            <a:ext cx="2248497" cy="223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6092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2828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procedural programming, a unit could be an entire module, but it is more commonly an individual function or procedure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object-oriented programming, a unit is often an entire interface, such as a class, but could be an individual method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763" y="4055803"/>
            <a:ext cx="2722594" cy="2546564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4714731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(3)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775" y="1172235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forms the basis for component testing or integration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Ideally, each test case is independent from the others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Substitutes such as method stubs, mock objects,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fakes, and test harnesses can be used to assist testing a module in isolation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Unit tests are typically written and run by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software developers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ensure that code meets its design and behaves as intended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831" y="3947160"/>
            <a:ext cx="2737153" cy="277073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1357541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(4)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of unit testing is to isolate each part of the program and show that the individual parts are correct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unit test provides a strict, written requirement that the piece of code must satisfy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351" y="4391695"/>
            <a:ext cx="2549941" cy="197620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468507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282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Integration and System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Integration tests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Tests that verifies the unit collaborations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System tests 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Tests that verifies system's behavior </a:t>
            </a:r>
          </a:p>
          <a:p>
            <a:pPr marL="393192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Integration and system tests are typically written and run by software testers (not software developers) to ensure that code meets its design and behaves as intended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404" y="4868214"/>
            <a:ext cx="2403479" cy="167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0378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Benefits of Unit Testing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Finds problems </a:t>
            </a: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early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 the development cycle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Test cases are written for all methods so that whenever a change causes a fault, it can be quickly identified</a:t>
            </a:r>
          </a:p>
          <a:p>
            <a:pPr lvl="2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Unit tests detect changes which may break a requirement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518" y="4082603"/>
            <a:ext cx="3379334" cy="268399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930679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Benefits of Unit Testing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Simplifies integration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testing the parts of a program first and then testing the sum of its parts, integration testing becomes much easier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Unit testing provides a sort of living documentation of the system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Developers looking to learn what functionality is provided by a unit, and how to use it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739" y="4935855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9925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Regression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set of unit tests called regression tests are normally run nightly to continually verify that the software </a:t>
            </a: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runs correctly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(Continuous integration)</a:t>
            </a:r>
          </a:p>
          <a:p>
            <a:pPr marL="393192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635" y="3321297"/>
            <a:ext cx="3043947" cy="253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13927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Limitations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33598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Unit testing will not catch every error in the program, since it cannot evaluate every execution path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Additionally, unit testing by definition only tests the functionality of the units themselves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will not catch integration errors or broader system-level errors (such as functions performed across multiple units, or non-functional test areas such as performance)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464" y="4839077"/>
            <a:ext cx="2569335" cy="18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4153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Limitations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5971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Software testing is a combinatorial problem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example, every Boolean decision statement requires at least two tests: one with an outcome of "true" and one with an outcome of "false“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result, for every line of code written, programmers often need 3 to 5 lines of test code 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94" y="3593207"/>
            <a:ext cx="4193506" cy="3141082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219832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Frameworks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5114"/>
            <a:ext cx="8403465" cy="457174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CPPUNIT - Released under LGPL  (license under the GNU public license)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Google C++ Mocking Framework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GoogleTest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one write better C++ tests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CUTE – Integrated with Eclipse </a:t>
            </a:r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 line include, without inheritance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TestComplete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SmartBear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728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586" y="3829878"/>
            <a:ext cx="4239711" cy="27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8703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Unit Testing Frameworks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generally possible to perform unit testing without the support of a specific framework by writing client code that exercises the units under test and uses assertions, exception handling, or other control flow mechanisms to signal failure 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706" y="4172754"/>
            <a:ext cx="3284094" cy="25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4080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sz="4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GoogleTes</a:t>
            </a:r>
            <a:r>
              <a:rPr lang="en-US" sz="4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44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5114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Google Test assertions are macros that resemble function calls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tests a class or function by making assertions about its behavior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an assertion fails, Google Test prints the assertion's source file and line number location, along with a failure message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8514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Case Example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Testing a simple method that adds two numbers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Possible checks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Positive + Positive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Zero + Zero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Positive + Zero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Negative + Zero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Positive + Negative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Negative + Positive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Negative + Negative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Large numbers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Small numbers 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testing1.cpp thru testing2.cpp</a:t>
            </a:r>
          </a:p>
          <a:p>
            <a:pPr lvl="1"/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720" y="3193962"/>
            <a:ext cx="3183969" cy="20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17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Test Case Examples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44915"/>
            <a:ext cx="8403465" cy="4571742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testing3.cpp thru testing4.cpp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These two test cases, build a test suite, that is: a collection of test cases which test the same unit </a:t>
            </a:r>
          </a:p>
          <a:p>
            <a:pPr marL="393192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298" y="3883829"/>
            <a:ext cx="5360631" cy="297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99017"/>
      </p:ext>
    </p:extLst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Case Development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36577"/>
            <a:ext cx="8403465" cy="4571742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All test cases and test suites should be developed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coding the units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Every time the unit changes, corresponding unit test should reflect changes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Modifying a test case or adding new one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instance, if one improves the "addition" module to add decimal numbers, one will have to change the tests, adding for example a new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addDecimalNumbersTest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test case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set of test suites make up the regression testing suite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710" y="4872258"/>
            <a:ext cx="1899995" cy="17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40335"/>
      </p:ext>
    </p:extLst>
  </p:cSld>
  <p:clrMapOvr>
    <a:masterClrMapping/>
  </p:clrMapOvr>
  <p:transition spd="slow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79172" y="2672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Case Example Using Assert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169720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Testing a simple method that adds two numbers using classes and the assert macro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testing5.cpp </a:t>
            </a:r>
          </a:p>
          <a:p>
            <a:pPr lvl="1"/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268" y="2666668"/>
            <a:ext cx="4961093" cy="371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3501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4096" y="2408080"/>
            <a:ext cx="6825803" cy="1519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459" y="2767884"/>
            <a:ext cx="6959600" cy="800100"/>
          </a:xfrm>
        </p:spPr>
        <p:txBody>
          <a:bodyPr>
            <a:normAutofit fontScale="90000"/>
          </a:bodyPr>
          <a:lstStyle/>
          <a:p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White Box Testing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37657"/>
      </p:ext>
    </p:extLst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/>
              <a:t>White Box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5971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White-box testing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method of testing software that tests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internal structures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workings of an application, as opposed to its functionality (i.e. black-box testing)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white-box testing an internal perspective of the system, as well as programming skills, are used to design test cases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tester chooses inputs to exercise paths through the code and determine the appropriate outputs</a:t>
            </a:r>
          </a:p>
          <a:p>
            <a:endParaRPr lang="en-US" sz="2400" dirty="0"/>
          </a:p>
          <a:p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872" y="4405647"/>
            <a:ext cx="4286787" cy="217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8664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White Box vs Black Box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5971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White-box uses the source code to derived the tests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Black-box uses the source code requirements </a:t>
            </a:r>
          </a:p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69" y="2886606"/>
            <a:ext cx="4404575" cy="357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54501"/>
      </p:ext>
    </p:extLst>
  </p:cSld>
  <p:clrMapOvr>
    <a:masterClrMapping/>
  </p:clrMapOvr>
  <p:transition spd="slow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White Box Testing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White-box testing can be applied at the unit, integration and system levels of the software testing process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can test paths within a unit, paths between units during integration, and between subsystems during a system–level test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Though this method of test design can uncover many errors or problems, it has the potential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unimplemented parts of the specification or missing requirements </a:t>
            </a:r>
          </a:p>
          <a:p>
            <a:endParaRPr lang="en-US" sz="2400" dirty="0"/>
          </a:p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204" y="4559121"/>
            <a:ext cx="1873685" cy="21605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455445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452" y="158728"/>
            <a:ext cx="8828468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White Box Test Design Techniques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301728"/>
            <a:ext cx="8427721" cy="498043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the following code coverage criteria: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Control flow testing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flow testing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Branch testing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Statement coverage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Decision coverage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Modified condition/decision coverage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Path testing</a:t>
            </a:r>
          </a:p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289" y="4012127"/>
            <a:ext cx="3545339" cy="2645369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87832937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White Box Unit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0267" y="1094961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White-box testing can be done during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unit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testing to ensure that the code is working as intended, before any integration happens with previously tested code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White-box testing during unit testing catches any defects early on and aids in any defects that happen later on after the code is integrated with the rest of the application 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898" y="4485927"/>
            <a:ext cx="3322320" cy="188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25911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White Box Test Procedure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733" y="975890"/>
            <a:ext cx="8316533" cy="4996040"/>
          </a:xfrm>
        </p:spPr>
        <p:txBody>
          <a:bodyPr>
            <a:normAutofit lnSpcReduction="10000"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preparation stage of white-box testing to layout all of the basic information </a:t>
            </a:r>
          </a:p>
          <a:p>
            <a:pPr marL="880110" lvl="1" indent="-5143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Reviewing requirements, functional specifications, detailed designing of documents, proper source code, security specifications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Building test cases to make sure they thoroughly test the application  </a:t>
            </a:r>
          </a:p>
          <a:p>
            <a:pPr marL="880110" lvl="1" indent="-5143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Performing risk analysis  </a:t>
            </a:r>
          </a:p>
          <a:p>
            <a:pPr marL="880110" lvl="1" indent="-5143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Developing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proper test plan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executing test cases and communicating results</a:t>
            </a:r>
          </a:p>
          <a:p>
            <a:pPr marL="109728" lvl="0" indent="0">
              <a:spcBef>
                <a:spcPct val="0"/>
              </a:spcBef>
              <a:buNone/>
            </a:pPr>
            <a:r>
              <a:rPr lang="en-US" sz="43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 marL="109728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621" y="4810113"/>
            <a:ext cx="2054180" cy="199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5301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White Box Test Procedure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733" y="975890"/>
            <a:ext cx="8316533" cy="4996040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Output phase that involves preparing the final report that encompasses all of the above preparations and results </a:t>
            </a:r>
          </a:p>
          <a:p>
            <a:pPr marL="109728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92" y="3718560"/>
            <a:ext cx="5111737" cy="195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6154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White Box Test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552" y="1610115"/>
            <a:ext cx="6639061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programmer must have a deep understanding of the application to know what kinds of test cases are needed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0" y="2973096"/>
            <a:ext cx="3955796" cy="296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62385"/>
      </p:ext>
    </p:extLst>
  </p:cSld>
  <p:clrMapOvr>
    <a:masterClrMapping/>
  </p:clrMapOvr>
  <p:transition spd="slow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Advantages of White Box Testing 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Side effects of having the knowledge of the source code is beneficial thorough testing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Optimization of code by revealing hidden errors and being able to remove these possible defects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Gives the programmer introspection because developers carefully describe any new implementation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952" y="4592955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059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Advantages of White Box Testing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599" y="1275971"/>
            <a:ext cx="8686801" cy="4571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Provides traceability of tests from the source code, allowing future changes to the software to be easily captured in changes to the test cases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 box tests can be automated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 box testing gives clear, engineering-based  rules for when to stop testing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915" y="4410577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7087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0267" y="1120719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White-box testing brings complexity to testing because the tester must have knowledge of the program, including being a programmer</a:t>
            </a:r>
          </a:p>
          <a:p>
            <a:pPr marL="822960" lvl="1" indent="-4572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White-box testing requires a programmer with a high-level of knowledge due to the complexity of the level of testing that needs to be done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most scenarios, it is not realistic to be able to test every single existing condition of the application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 conditions will not be thoroughly tested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white box testing focuses on the software as it exists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functionality may not be discovered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971" y="5088988"/>
            <a:ext cx="1909151" cy="1456006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249311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White Box Hacking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045" y="1071015"/>
            <a:ext cx="8427721" cy="49804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White-box testing refers to a methodology where a white hat hacker has full knowledge of the system being attacked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of a white-box penetration test is to simulate a malicious insider who has knowledge of and possibly basic credentials for the target system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307" y="4556022"/>
            <a:ext cx="30670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623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760" y="2305049"/>
            <a:ext cx="5813738" cy="17257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459" y="2767884"/>
            <a:ext cx="6959600" cy="800100"/>
          </a:xfrm>
        </p:spPr>
        <p:txBody>
          <a:bodyPr>
            <a:normAutofit fontScale="90000"/>
          </a:bodyPr>
          <a:lstStyle/>
          <a:p>
            <a:r>
              <a:rPr lang="en-US" sz="5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Black Box Testing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562669"/>
      </p:ext>
    </p:extLst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Black Box Testing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03465" cy="45717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Black-box testing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method of software testing that examines the functionality of an application without reviewing the source code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method of test can be applied to virtually every level of software testing: unit, integration, system and acceptance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04" y="4332849"/>
            <a:ext cx="4372062" cy="140201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084604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Black Box Test Procedures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733" y="744070"/>
            <a:ext cx="8316533" cy="4996040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tester should be aware of </a:t>
            </a:r>
            <a:r>
              <a:rPr lang="en-US" sz="2800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software is supposed to do but is not aware of </a:t>
            </a:r>
            <a:r>
              <a:rPr lang="en-US" sz="2800" i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does it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For instance, the tester is aware that a particular input returns a certain output but is not aware of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software produces the output  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3551" y="4262511"/>
            <a:ext cx="6805495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Knowledge of the application's code/internal structure and programming knowledge in general is </a:t>
            </a:r>
            <a:r>
              <a:rPr lang="en-US" sz="2400" u="sng" dirty="0">
                <a:solidFill>
                  <a:srgbClr val="FFFF00"/>
                </a:solidFill>
              </a:rPr>
              <a:t>not</a:t>
            </a:r>
            <a:r>
              <a:rPr lang="en-US" sz="2400" dirty="0">
                <a:solidFill>
                  <a:srgbClr val="FFFF00"/>
                </a:solidFill>
              </a:rPr>
              <a:t> required</a:t>
            </a:r>
            <a:endParaRPr 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92380"/>
      </p:ext>
    </p:extLst>
  </p:cSld>
  <p:clrMapOvr>
    <a:masterClrMapping/>
  </p:clrMapOvr>
  <p:transition spd="slow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2971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Black Box Test Cases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733" y="744070"/>
            <a:ext cx="8316533" cy="4996040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cases are built around specifications and requirements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the application is supposed to do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cases are generally derived from external descriptions of the software, including specifications, requirement documents and design parameters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test designer selects both valid and invalid inputs and determines the correct output, often with the help of a previous result that is known to be good, without any knowledge of the test object’s source code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49" y="5106899"/>
            <a:ext cx="30099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25856"/>
      </p:ext>
    </p:extLst>
  </p:cSld>
  <p:clrMapOvr>
    <a:masterClrMapping/>
  </p:clrMapOvr>
  <p:transition spd="slow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Black Box Test Design Techniques (1)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045" y="1249509"/>
            <a:ext cx="8427721" cy="49804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Decision table testing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Like flowcharts and if-then-else and switch-case statements, associate conditions with actions to perform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All-pairs testing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combinatorial method of software testing that, for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each pair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input parameters to a system (typically, a software algorithm), tests all possible discrete combinations of those parameters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597" y="4658316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048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Black Box Test Design Techniques (2)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045" y="1107841"/>
            <a:ext cx="8427721" cy="498043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Boundary value analysis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Technique in which tests are designed to include representatives of boundary values in a range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Cause–effect graph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Maps a set of causes to a set of effects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causes may be thought of as the input to the program, and the effects may be thought of as the output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Error guessing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Test method in which test cases used to find bugs are established based on experience in prior testing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scope of test cases are based on the tester’s past experience and intuition  </a:t>
            </a:r>
          </a:p>
          <a:p>
            <a:pPr marL="109728" indent="0">
              <a:buNone/>
            </a:pP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57" y="51730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7568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246326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Black Box Hacking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27721" cy="49804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Black-box testing refers to a methodology where an ethical hacker has no knowledge of the system being attacked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of a black-box penetration test is to simulate an external hacking or cyber warfare attack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71" y="4235150"/>
            <a:ext cx="3345999" cy="222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869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459" y="2767884"/>
            <a:ext cx="6959600" cy="800100"/>
          </a:xfrm>
        </p:spPr>
        <p:txBody>
          <a:bodyPr>
            <a:normAutofit fontScale="90000"/>
          </a:bodyPr>
          <a:lstStyle/>
          <a:p>
            <a:r>
              <a:rPr lang="en-US" sz="5500" dirty="0"/>
              <a:t>Test Plan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852" y="4351337"/>
            <a:ext cx="28479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23870"/>
      </p:ext>
    </p:extLst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Plan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481328"/>
            <a:ext cx="8427721" cy="49804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software test plan is a document describing the testing scope and activities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the basis for formally testing any software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describes the scope, approach, resources and schedule of intended test activities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1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92" y="3913375"/>
            <a:ext cx="5770916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74017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-10067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Plan Overview</a:t>
            </a:r>
            <a:endParaRPr lang="en-US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715" y="815060"/>
            <a:ext cx="8427721" cy="4980432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test plan identifies the following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Test items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Features to be tested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Testing tasks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Who will do each task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Degree of tester independence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Test environment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test design techniques and entry and exit criteria to be used</a:t>
            </a:r>
          </a:p>
          <a:p>
            <a:pPr lvl="3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rationale for their choice and any risks requiring contingency planning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58158" y="5743976"/>
            <a:ext cx="6928834" cy="49244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lvl="2"/>
            <a:r>
              <a:rPr lang="en-US" sz="2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 record of the test planning process </a:t>
            </a:r>
          </a:p>
        </p:txBody>
      </p:sp>
    </p:spTree>
    <p:extLst>
      <p:ext uri="{BB962C8B-B14F-4D97-AF65-F5344CB8AC3E}">
        <p14:creationId xmlns:p14="http://schemas.microsoft.com/office/powerpoint/2010/main" val="192300934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Plan Template (1)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plan id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Purpose of the test plan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Scope of the test plan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will be tested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 test strategy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features will be tested from a user’s perspective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requirements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features will not be tested from a user’s perspective and what the system does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database, designing the GUI, etc.</a:t>
            </a:r>
          </a:p>
          <a:p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75" y="1481328"/>
            <a:ext cx="1381125" cy="18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10203"/>
      </p:ext>
    </p:extLst>
  </p:cSld>
  <p:clrMapOvr>
    <a:masterClrMapping/>
  </p:clrMapOvr>
  <p:transition spd="slow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Plan Template (2)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Entry criteria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Conditions needed to start the testing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Exit criteria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Conditions needed to stop the testing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Roles and responsibilities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 owner, scrum master, team (not just names)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Approval process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happens when a member completes a story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happens when a test fails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White box or black box testing or both?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Features will be in implemented during each sprint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Necessary training needed for testing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111" y="1163276"/>
            <a:ext cx="2596784" cy="194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1860"/>
      </p:ext>
    </p:extLst>
  </p:cSld>
  <p:clrMapOvr>
    <a:masterClrMapping/>
  </p:clrMapOvr>
  <p:transition spd="slow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845" y="158728"/>
            <a:ext cx="8920123" cy="123500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Plan Template (3)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Environment description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 and software needed for testing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Configuration management approach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GITHUB utilization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Branch structure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Test deliverables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Stated in problem definition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Glossary of terms</a:t>
            </a:r>
          </a:p>
          <a:p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572" y="5376672"/>
            <a:ext cx="1584228" cy="11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40470"/>
      </p:ext>
    </p:extLst>
  </p:cSld>
  <p:clrMapOvr>
    <a:masterClrMapping/>
  </p:clrMapOvr>
  <p:transition spd="slow">
    <p:zo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8519</TotalTime>
  <Pages>76</Pages>
  <Words>2103</Words>
  <Application>Microsoft Office PowerPoint</Application>
  <PresentationFormat>On-screen Show (4:3)</PresentationFormat>
  <Paragraphs>232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Lucida Sans Unicode</vt:lpstr>
      <vt:lpstr>Verdana</vt:lpstr>
      <vt:lpstr>Wingdings</vt:lpstr>
      <vt:lpstr>Wingdings 2</vt:lpstr>
      <vt:lpstr>Wingdings 3</vt:lpstr>
      <vt:lpstr>Concourse</vt:lpstr>
      <vt:lpstr>Testing</vt:lpstr>
      <vt:lpstr>Topics</vt:lpstr>
      <vt:lpstr>Unit Testing</vt:lpstr>
      <vt:lpstr>Unit Testing (1)</vt:lpstr>
      <vt:lpstr>Unit Testing (2)</vt:lpstr>
      <vt:lpstr>Unit Testing (3)</vt:lpstr>
      <vt:lpstr>Unit Testing (4)</vt:lpstr>
      <vt:lpstr>Integration and System Testing</vt:lpstr>
      <vt:lpstr>Benefits of Unit Testing (1)</vt:lpstr>
      <vt:lpstr>Benefits of Unit Testing (2)</vt:lpstr>
      <vt:lpstr>Regression Testing</vt:lpstr>
      <vt:lpstr>Unit Testing Limitations (1)</vt:lpstr>
      <vt:lpstr>Unit Testing Limitations (2)</vt:lpstr>
      <vt:lpstr>Unit Testing Frameworks (1)</vt:lpstr>
      <vt:lpstr>Unit Testing Frameworks (2)</vt:lpstr>
      <vt:lpstr>GoogleTest</vt:lpstr>
      <vt:lpstr>Test Case Example</vt:lpstr>
      <vt:lpstr>More Test Case Examples</vt:lpstr>
      <vt:lpstr>Test Case Development</vt:lpstr>
      <vt:lpstr>Test Case Example Using Assert</vt:lpstr>
      <vt:lpstr>White Box Testing</vt:lpstr>
      <vt:lpstr>White Box Testing</vt:lpstr>
      <vt:lpstr>White Box vs Black Box Testing</vt:lpstr>
      <vt:lpstr>White Box Testing (2)</vt:lpstr>
      <vt:lpstr>White Box Test Design Techniques</vt:lpstr>
      <vt:lpstr>White Box Unit Testing</vt:lpstr>
      <vt:lpstr>White Box Test Procedure (1)</vt:lpstr>
      <vt:lpstr>White Box Test Procedure</vt:lpstr>
      <vt:lpstr>White Box Test Requirement</vt:lpstr>
      <vt:lpstr>Advantages of White Box Testing (1)</vt:lpstr>
      <vt:lpstr>Advantages of White Box Testing (2)</vt:lpstr>
      <vt:lpstr>Disadvantages</vt:lpstr>
      <vt:lpstr>White Box Hacking</vt:lpstr>
      <vt:lpstr>Black Box Testing</vt:lpstr>
      <vt:lpstr>Black Box Testing</vt:lpstr>
      <vt:lpstr>Black Box Test Procedures</vt:lpstr>
      <vt:lpstr>Black Box Test Cases</vt:lpstr>
      <vt:lpstr>Black Box Test Design Techniques (1)</vt:lpstr>
      <vt:lpstr>Black Box Test Design Techniques (2)</vt:lpstr>
      <vt:lpstr>Black Box Hacking</vt:lpstr>
      <vt:lpstr>Test Plan</vt:lpstr>
      <vt:lpstr>Test Plan</vt:lpstr>
      <vt:lpstr>Test Plan Overview</vt:lpstr>
      <vt:lpstr>Test Plan Template (1)</vt:lpstr>
      <vt:lpstr>Test Plan Template (2)</vt:lpstr>
      <vt:lpstr>Test Plan Template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ASSESSMENT  GUIDELINE  MARCH, 1999</dc:title>
  <dc:creator>Jerry</dc:creator>
  <cp:lastModifiedBy>Jerry</cp:lastModifiedBy>
  <cp:revision>350</cp:revision>
  <cp:lastPrinted>2001-04-06T06:15:19Z</cp:lastPrinted>
  <dcterms:created xsi:type="dcterms:W3CDTF">1999-02-18T11:48:28Z</dcterms:created>
  <dcterms:modified xsi:type="dcterms:W3CDTF">2022-12-19T16:49:08Z</dcterms:modified>
</cp:coreProperties>
</file>